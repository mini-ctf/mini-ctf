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58368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200" b="1">
                <a:solidFill>
                  <a:srgbClr val="63A9FF"/>
                </a:solidFill>
                <a:latin typeface="Malgun Gothic"/>
              </a:defRPr>
            </a:pPr>
            <a:r>
              <a:t>MINI / CTF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9875520" cy="1325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3400" b="1">
                <a:solidFill>
                  <a:srgbClr val="F8FBFF"/>
                </a:solidFill>
                <a:latin typeface="Malgun Gothic"/>
              </a:defRPr>
            </a:pPr>
            <a:r>
              <a:t>보안 학습과 문제 풀이를 연결한</a:t>
            </a:r>
            <a:br/>
            <a:r>
              <a:t>온라인 CTF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700" b="0">
                <a:solidFill>
                  <a:srgbClr val="A8BCD3"/>
                </a:solidFill>
                <a:latin typeface="Malgun Gothic"/>
              </a:defRPr>
            </a:pPr>
            <a:r>
              <a:t>주간 개발 보고  ·  MVP 구현 현황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051560"/>
            <a:ext cx="3383280" cy="338328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27632"/>
            <a:ext cx="2011680" cy="73152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5700" b="1">
                <a:solidFill>
                  <a:srgbClr val="63A9FF"/>
                </a:solidFill>
                <a:latin typeface="Malgun Gothic"/>
              </a:defRPr>
            </a:pPr>
            <a:r>
              <a:t>{ 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743200"/>
            <a:ext cx="2377440" cy="6400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600" b="1">
                <a:solidFill>
                  <a:srgbClr val="E0EFFF"/>
                </a:solidFill>
                <a:latin typeface="Malgun Gothic"/>
              </a:defRPr>
            </a:pPr>
            <a:r>
              <a:t>learn by breaking</a:t>
            </a:r>
            <a:br/>
            <a:r>
              <a:t>things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72200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0">
                <a:solidFill>
                  <a:srgbClr val="A8BCD3"/>
                </a:solidFill>
                <a:latin typeface="Malgun Gothic"/>
              </a:defRPr>
            </a:pPr>
            <a:r>
              <a:t>2026.08  ·  Mini-CTF Organization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01  ·  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프로젝트 목표와 현재 범위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900" b="0">
                <a:solidFill>
                  <a:srgbClr val="E0EFFF"/>
                </a:solidFill>
                <a:latin typeface="Malgun Gothic"/>
              </a:defRPr>
            </a:pPr>
            <a:r>
              <a:t>Mini-CTF는 문제 풀이만 제공하는 서비스가 아니라, 인증·학습·커뮤니티·운영을 하나로 묶은 CTF 플랫폼입니다.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246888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81528"/>
            <a:ext cx="219456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63A9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02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단계별 CTF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71800"/>
            <a:ext cx="246888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3081528"/>
            <a:ext cx="219456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502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Flyway DB migrations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971800"/>
            <a:ext cx="246888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3081528"/>
            <a:ext cx="219456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FFB76B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502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OAuth providers live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2971800"/>
            <a:ext cx="246888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3081528"/>
            <a:ext cx="219456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63A9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3502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Admin operations console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43400"/>
            <a:ext cx="1042416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사용자가 직접 문제를 내려받고 풀이·제출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관리자가 사용자·문제·로그를 운영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풀이와 커뮤니티 활동을 통한 학습 경험 제공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02  ·  TECHNICAL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시스템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2743200" cy="132588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788920"/>
            <a:ext cx="2423160" cy="292608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2000" b="1">
                <a:solidFill>
                  <a:srgbClr val="63A9FF"/>
                </a:solidFill>
                <a:latin typeface="Malgun Gothic"/>
              </a:defRPr>
            </a:pPr>
            <a:r>
              <a:t>React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246120"/>
            <a:ext cx="24231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Frontend / Theme /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14600"/>
            <a:ext cx="2743200" cy="132588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72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788920"/>
            <a:ext cx="2423160" cy="292608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2000" b="1">
                <a:solidFill>
                  <a:srgbClr val="72DCAA"/>
                </a:solidFill>
                <a:latin typeface="Malgun Gothic"/>
              </a:defRPr>
            </a:pPr>
            <a:r>
              <a:t>Spring Boot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246120"/>
            <a:ext cx="24231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REST API / 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514600"/>
            <a:ext cx="2743200" cy="132588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FFB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788920"/>
            <a:ext cx="2423160" cy="292608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2000" b="1">
                <a:solidFill>
                  <a:srgbClr val="FFB76B"/>
                </a:solidFill>
                <a:latin typeface="Malgun Gothic"/>
              </a:defRPr>
            </a:pPr>
            <a: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246120"/>
            <a:ext cx="24231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JPA / Flyway V1~V6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926080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100" b="1">
                <a:solidFill>
                  <a:srgbClr val="A8BCD3"/>
                </a:solidFill>
                <a:latin typeface="Malgun Gothic"/>
              </a:defRPr>
            </a:pPr>
            <a:r>
              <a:t>REST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2926080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100" b="1">
                <a:solidFill>
                  <a:srgbClr val="A8BCD3"/>
                </a:solidFill>
                <a:latin typeface="Malgun Gothic"/>
              </a:defRPr>
            </a:pPr>
            <a:r>
              <a:t>JPA / 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52628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400" b="1">
                <a:solidFill>
                  <a:srgbClr val="63A9FF"/>
                </a:solidFill>
                <a:latin typeface="Malgun Gothic"/>
              </a:defRPr>
            </a:pPr>
            <a:r>
              <a:t>SSE 실시간 메시지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058400" cy="8229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Swagger/OpenAPI로 API 확인 가능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PostgreSQL 16 연결 및 Flyway 스키마 검증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실행 주소: Frontend 5173 / Backend 8080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03  · 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회원가입·로그인과 보안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03120"/>
            <a:ext cx="5212080" cy="34290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2103120" cy="292608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900" b="1">
                <a:solidFill>
                  <a:srgbClr val="72DCAA"/>
                </a:solidFill>
                <a:latin typeface="Malgun Gothic"/>
              </a:defRPr>
            </a:pPr>
            <a:r>
              <a:t>구현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466344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회원가입 / 일반 로그인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Argon2 비밀번호 해시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JWT 인증 및 사용자 세션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Google OAuth 로그인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GitHub OAuth 로그인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OAuth 실패 메시지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103120"/>
            <a:ext cx="5029200" cy="34290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95728"/>
            <a:ext cx="2103120" cy="292608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900" b="1">
                <a:solidFill>
                  <a:srgbClr val="FFB76B"/>
                </a:solidFill>
                <a:latin typeface="Malgun Gothic"/>
              </a:defRPr>
            </a:pPr>
            <a:r>
              <a:t>운영 보완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448056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이메일 인증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비밀번호 찾기 / 재설정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로그인 시도 잠금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운영 도메인 OAuth Redirect URI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HTTPS 및 Secure Cookie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04  ·  CHALLENGE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CTF 문제 풀이 코어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1005840" cy="457200"/>
          </a:xfrm>
          <a:prstGeom prst="rect">
            <a:avLst/>
          </a:prstGeom>
          <a:solidFill>
            <a:srgbClr val="16263E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8229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1">
                <a:solidFill>
                  <a:srgbClr val="E0EFFF"/>
                </a:solidFill>
                <a:latin typeface="Malgun Gothic"/>
              </a:defRPr>
            </a:pPr>
            <a:r>
              <a:t>난이도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2240280"/>
            <a:ext cx="3063240" cy="457200"/>
          </a:xfrm>
          <a:prstGeom prst="rect">
            <a:avLst/>
          </a:prstGeom>
          <a:solidFill>
            <a:srgbClr val="16263E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350008"/>
            <a:ext cx="28803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1">
                <a:solidFill>
                  <a:srgbClr val="E0EFFF"/>
                </a:solidFill>
                <a:latin typeface="Malgun Gothic"/>
              </a:defRPr>
            </a:pPr>
            <a:r>
              <a:t>문제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2240280"/>
            <a:ext cx="1417320" cy="457200"/>
          </a:xfrm>
          <a:prstGeom prst="rect">
            <a:avLst/>
          </a:prstGeom>
          <a:solidFill>
            <a:srgbClr val="16263E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350008"/>
            <a:ext cx="123444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1">
                <a:solidFill>
                  <a:srgbClr val="E0EFFF"/>
                </a:solidFill>
                <a:latin typeface="Malgun Gothic"/>
              </a:defRPr>
            </a:pPr>
            <a:r>
              <a:t>분야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240280"/>
            <a:ext cx="2834640" cy="457200"/>
          </a:xfrm>
          <a:prstGeom prst="rect">
            <a:avLst/>
          </a:prstGeom>
          <a:solidFill>
            <a:srgbClr val="16263E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2350008"/>
            <a:ext cx="26517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1">
                <a:solidFill>
                  <a:srgbClr val="E0EFFF"/>
                </a:solidFill>
                <a:latin typeface="Malgun Gothic"/>
              </a:defRPr>
            </a:pPr>
            <a:r>
              <a:t>학습 목표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240280"/>
            <a:ext cx="914400" cy="457200"/>
          </a:xfrm>
          <a:prstGeom prst="rect">
            <a:avLst/>
          </a:prstGeom>
          <a:solidFill>
            <a:srgbClr val="16263E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350008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1">
                <a:solidFill>
                  <a:srgbClr val="E0EFFF"/>
                </a:solidFill>
                <a:latin typeface="Malgun Gothic"/>
              </a:defRPr>
            </a:pPr>
            <a:r>
              <a:t>점수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43200"/>
            <a:ext cx="10058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07792"/>
            <a:ext cx="8229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Easy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2743200"/>
            <a:ext cx="30632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2907792"/>
            <a:ext cx="28803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300" b="1">
                <a:solidFill>
                  <a:srgbClr val="F8FBFF"/>
                </a:solidFill>
                <a:latin typeface="Malgun Gothic"/>
              </a:defRPr>
            </a:pPr>
            <a:r>
              <a:t>Signal in Plain Sight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2743200"/>
            <a:ext cx="141732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2907792"/>
            <a:ext cx="123444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Crypto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43200"/>
            <a:ext cx="28346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2907792"/>
            <a:ext cx="26517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Base64 디코딩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2743200"/>
            <a:ext cx="91440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290779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337560"/>
            <a:ext cx="10058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02152"/>
            <a:ext cx="8229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3337560"/>
            <a:ext cx="30632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3502152"/>
            <a:ext cx="28803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300" b="1">
                <a:solidFill>
                  <a:srgbClr val="F8FBFF"/>
                </a:solidFill>
                <a:latin typeface="Malgun Gothic"/>
              </a:defRPr>
            </a:pPr>
            <a:r>
              <a:t>Proxy Afterimage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3337560"/>
            <a:ext cx="141732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2040" y="3502152"/>
            <a:ext cx="123444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Forensics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337560"/>
            <a:ext cx="28346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3502152"/>
            <a:ext cx="26517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Hex → Base64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2560" y="3337560"/>
            <a:ext cx="91440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350215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250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31920"/>
            <a:ext cx="10058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4096512"/>
            <a:ext cx="8229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Hard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3931920"/>
            <a:ext cx="30632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28800" y="4096512"/>
            <a:ext cx="28803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300" b="1">
                <a:solidFill>
                  <a:srgbClr val="F8FBFF"/>
                </a:solidFill>
                <a:latin typeface="Malgun Gothic"/>
              </a:defRPr>
            </a:pPr>
            <a:r>
              <a:t>Orbit Gatekeeper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3931920"/>
            <a:ext cx="141732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4096512"/>
            <a:ext cx="123444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Reversing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3931920"/>
            <a:ext cx="283464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59" y="4096512"/>
            <a:ext cx="265176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변환식 역연산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3931920"/>
            <a:ext cx="914400" cy="548640"/>
          </a:xfrm>
          <a:prstGeom prst="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0" y="4096512"/>
            <a:ext cx="73152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200" b="0">
                <a:solidFill>
                  <a:srgbClr val="E0EFFF"/>
                </a:solidFill>
                <a:latin typeface="Malgun Gothic"/>
              </a:defRPr>
            </a:pPr>
            <a:r>
              <a:t>500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문제 상세 조회 및 Artifact 다운로드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FLAG 제출·오답 기록·점수 반영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동시 정답 제출 시 중복 점수 방지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3번 검증기의 signed/unsigned byte 버그 수정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05  ·  TRUST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안티치트와 관리자 운영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03120"/>
            <a:ext cx="5166360" cy="347472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04872"/>
            <a:ext cx="347472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900" b="1">
                <a:solidFill>
                  <a:srgbClr val="63A9FF"/>
                </a:solidFill>
                <a:latin typeface="Malgun Gothic"/>
              </a:defRPr>
            </a:pPr>
            <a:r>
              <a:t>행동 기반 보조 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457200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문제 활동 없이 정답 제출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문제 접근 직후의 빠른 정답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오답 제출 및 빈도 제한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문제 접근·Artifact 다운로드 이력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Easy 20초 / Medium 60초 / Hard 120초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166360" cy="347472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04872"/>
            <a:ext cx="347472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900" b="1">
                <a:solidFill>
                  <a:srgbClr val="72DCAA"/>
                </a:solidFill>
                <a:latin typeface="Malgun Gothic"/>
              </a:defRPr>
            </a:pPr>
            <a:r>
              <a:t>Admin Console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457200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사용자 수정·정지·복구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문제 CRUD 및 Artifact 관리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제출·Anti-cheat 이벤트 조회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로그 Redact / Hide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관리자 감사 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978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400" b="1">
                <a:solidFill>
                  <a:srgbClr val="FFB76B"/>
                </a:solidFill>
                <a:latin typeface="Malgun Gothic"/>
              </a:defRPr>
            </a:pPr>
            <a:r>
              <a:t>AI 사용 여부를 단정하는 탐지기가 아니라, 검토 가능한 보안 신호를 제공하는 구조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06  ·  SOCIAL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프로필·커뮤니티·실시간 메시지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2971800" cy="22860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256032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000" b="1">
                <a:solidFill>
                  <a:srgbClr val="63A9FF"/>
                </a:solidFill>
                <a:latin typeface="Malgun Gothic"/>
              </a:defRPr>
            </a:pPr>
            <a: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65176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닉네임·상태 메시지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클릭형 프로필 사진 업로드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2423160"/>
            <a:ext cx="2971800" cy="22860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72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724912"/>
            <a:ext cx="256032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000" b="1">
                <a:solidFill>
                  <a:srgbClr val="72DCAA"/>
                </a:solidFill>
                <a:latin typeface="Malgun Gothic"/>
              </a:defRPr>
            </a:pPr>
            <a:r>
              <a:t>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337560"/>
            <a:ext cx="265176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게시글·댓글 CRUD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작성자·관리자 권한 제어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423160"/>
            <a:ext cx="2971800" cy="22860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FFB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724912"/>
            <a:ext cx="256032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000" b="1">
                <a:solidFill>
                  <a:srgbClr val="FFB76B"/>
                </a:solidFill>
                <a:latin typeface="Malgun Gothic"/>
              </a:defRPr>
            </a:pPr>
            <a:r>
              <a:t>Social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3337560"/>
            <a:ext cx="2651760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친구 요청·수락</a:t>
            </a:r>
          </a:p>
          <a:p>
            <a:pPr>
              <a:spcAft>
                <a:spcPts val="800"/>
              </a:spcAft>
              <a:defRPr sz="1500">
                <a:solidFill>
                  <a:srgbClr val="E0EFFF"/>
                </a:solidFill>
                <a:latin typeface="Malgun Gothic"/>
              </a:defRPr>
            </a:pPr>
            <a:r>
              <a:t>• SSE 실시간 개인 메시지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149840" cy="4114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2000" b="1">
                <a:solidFill>
                  <a:srgbClr val="E0EFFF"/>
                </a:solidFill>
                <a:latin typeface="Malgun Gothic"/>
              </a:defRPr>
            </a:pPr>
            <a:r>
              <a:t>문제 풀이 중심 서비스에서 사용자 간 학습·토론이 가능한 플랫폼으로 확장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07  · 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프론트엔드 UX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63A9FF"/>
                </a:solidFill>
                <a:latin typeface="Malgun Gothic"/>
              </a:defRPr>
            </a:pPr>
            <a:r>
              <a:t>Dark /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테마 전환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High contrast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문제 제출 영역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FFB76B"/>
                </a:solidFill>
                <a:latin typeface="Malgun Gothic"/>
              </a:defRPr>
            </a:pPr>
            <a:r>
              <a:t>Responsive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화면 대응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240280"/>
            <a:ext cx="228600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8592" y="2350008"/>
            <a:ext cx="201168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63A9FF"/>
                </a:solidFill>
                <a:latin typeface="Malgun Gothic"/>
              </a:defRPr>
            </a:pPr>
            <a:r>
              <a:t>Branding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770632"/>
            <a:ext cx="201168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Mini-CTF SVG 로고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1005840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라이트 테마에서 글자·테두리 대비 강화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작은 설명·랭킹·마이페이지 폰트 크기 개선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Google·GitHub 버튼 및 로고 스타일 개선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프로필 이미지 클릭 업로드 흐름 단순화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오류·로딩·빈 상태 화면 추가 개선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08  ·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검증 결과와 현재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Backend compile /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Frontend build / lint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56032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350008"/>
            <a:ext cx="228600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770632"/>
            <a:ext cx="228600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PostgreSQL + Flyway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240280"/>
            <a:ext cx="2286000" cy="932688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162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8592" y="2350008"/>
            <a:ext cx="2011680" cy="34747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500" b="1">
                <a:solidFill>
                  <a:srgbClr val="72DCAA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770632"/>
            <a:ext cx="2011680" cy="219456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100" b="0">
                <a:solidFill>
                  <a:srgbClr val="A8BCD3"/>
                </a:solidFill>
                <a:latin typeface="Malgun Gothic"/>
              </a:defRPr>
            </a:pPr>
            <a:r>
              <a:t>3 Artifact verifiers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10058400" cy="1234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Backend API: http://localhost:8080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Frontend: http://localhost:5173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Swagger: /swagger-ui.html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GitHub main 브랜치 최신 코드 반영</a:t>
            </a:r>
          </a:p>
          <a:p>
            <a:pPr>
              <a:spcAft>
                <a:spcPts val="800"/>
              </a:spcAft>
              <a:defRPr sz="1600">
                <a:solidFill>
                  <a:srgbClr val="E0EFFF"/>
                </a:solidFill>
                <a:latin typeface="Malgun Gothic"/>
              </a:defRPr>
            </a:pPr>
            <a:r>
              <a:t>• 실제 사용자 시나리오 기반 E2E 테스트는 추가 예정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09  ·  WEEKLY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주차별 개발 진행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2331720" cy="32004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23744"/>
            <a:ext cx="19659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300" b="1">
                <a:solidFill>
                  <a:srgbClr val="63A9FF"/>
                </a:solidFill>
                <a:latin typeface="Malgun Gothic"/>
              </a:defRPr>
            </a:pPr>
            <a:r>
              <a:t>1주차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80360"/>
            <a:ext cx="196596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700" b="1">
                <a:solidFill>
                  <a:srgbClr val="F8FBFF"/>
                </a:solidFill>
                <a:latin typeface="Malgun Gothic"/>
              </a:defRPr>
            </a:pPr>
            <a:r>
              <a:t>기반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205740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Spring Boot + React 구성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PostgreSQL·Flyway 연결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회원가입·일반 로그인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47872" y="2240280"/>
            <a:ext cx="2331720" cy="32004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72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2463" y="2523744"/>
            <a:ext cx="19659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300" b="1">
                <a:solidFill>
                  <a:srgbClr val="72DCAA"/>
                </a:solidFill>
                <a:latin typeface="Malgun Gothic"/>
              </a:defRPr>
            </a:pPr>
            <a:r>
              <a:t>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2880360"/>
            <a:ext cx="196596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700" b="1">
                <a:solidFill>
                  <a:srgbClr val="F8FBFF"/>
                </a:solidFill>
                <a:latin typeface="Malgun Gothic"/>
              </a:defRPr>
            </a:pPr>
            <a:r>
              <a:t>CTF 핵심 기능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03320"/>
            <a:ext cx="205740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Easy/Medium/Hard 3문제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FLAG 제출·점수·랭킹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Admin·Anti-cheat 신호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2512" y="2240280"/>
            <a:ext cx="2331720" cy="32004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FFB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523744"/>
            <a:ext cx="19659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300" b="1">
                <a:solidFill>
                  <a:srgbClr val="FFB76B"/>
                </a:solidFill>
                <a:latin typeface="Malgun Gothic"/>
              </a:defRPr>
            </a:pPr>
            <a:r>
              <a:t>3주차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2880360"/>
            <a:ext cx="196596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700" b="1">
                <a:solidFill>
                  <a:srgbClr val="F8FBFF"/>
                </a:solidFill>
                <a:latin typeface="Malgun Gothic"/>
              </a:defRPr>
            </a:pPr>
            <a:r>
              <a:t>서비스 확장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03320"/>
            <a:ext cx="205740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Google/GitHub OAuth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프로필·커뮤니티·댓글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친구·실시간 메시지·테마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17152" y="2240280"/>
            <a:ext cx="2331720" cy="320040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4" y="2523744"/>
            <a:ext cx="196596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300" b="1">
                <a:solidFill>
                  <a:srgbClr val="63A9FF"/>
                </a:solidFill>
                <a:latin typeface="Malgun Gothic"/>
              </a:defRPr>
            </a:pPr>
            <a:r>
              <a:t>4주차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880360"/>
            <a:ext cx="1965960" cy="4572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700" b="1">
                <a:solidFill>
                  <a:srgbClr val="F8FBFF"/>
                </a:solidFill>
                <a:latin typeface="Malgun Gothic"/>
              </a:defRPr>
            </a:pPr>
            <a:r>
              <a:t>예정: MVP 안정화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03320"/>
            <a:ext cx="2057400" cy="1325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E2E·보안 테스트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HTTPS·OAuth 운영 설정</a:t>
            </a:r>
          </a:p>
          <a:p>
            <a:pPr>
              <a:spcAft>
                <a:spcPts val="600"/>
              </a:spcAft>
              <a:defRPr sz="1300">
                <a:solidFill>
                  <a:srgbClr val="E0EFFF"/>
                </a:solidFill>
                <a:latin typeface="Malgun Gothic"/>
              </a:defRPr>
            </a:pPr>
            <a:r>
              <a:t>• 백업·모니터링·배포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1700" b="1">
                <a:solidFill>
                  <a:srgbClr val="E0EFFF"/>
                </a:solidFill>
                <a:latin typeface="Malgun Gothic"/>
              </a:defRPr>
            </a:pPr>
            <a:r>
              <a:t>현재까지 1~3주차 핵심 기능 구현 완료 · 4주차는 운영 가능한 MVP 전환 단계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59436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900" b="1">
                <a:solidFill>
                  <a:srgbClr val="63A9FF"/>
                </a:solidFill>
                <a:latin typeface="Malgun Gothic"/>
              </a:defRPr>
            </a:pPr>
            <a:r>
              <a:t>MINI / CTF  ·  WEEKLY REPORT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515600" cy="256032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000" b="1">
                <a:solidFill>
                  <a:srgbClr val="A8BCD3"/>
                </a:solidFill>
                <a:latin typeface="Malgun Gothic"/>
              </a:defRPr>
            </a:pPr>
            <a:r>
              <a:t>10  · 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24128"/>
            <a:ext cx="1106424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900" b="1">
                <a:solidFill>
                  <a:srgbClr val="F8FBFF"/>
                </a:solidFill>
                <a:latin typeface="Malgun Gothic"/>
              </a:defRPr>
            </a:pPr>
            <a:r>
              <a:t>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55648"/>
            <a:ext cx="10972800" cy="13716"/>
          </a:xfrm>
          <a:prstGeom prst="rect">
            <a:avLst/>
          </a:prstGeom>
          <a:solidFill>
            <a:srgbClr val="63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800" b="0">
                <a:solidFill>
                  <a:srgbClr val="A8BCD3"/>
                </a:solidFill>
                <a:latin typeface="Malgun Gothic"/>
              </a:defRPr>
            </a:pPr>
            <a:r>
              <a:t>Mini-CTF MVP  ·  PostgreSQL / Spring Boot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r">
              <a:defRPr sz="800" b="1">
                <a:solidFill>
                  <a:srgbClr val="63A9FF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5943600" cy="50292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800" b="1">
                <a:solidFill>
                  <a:srgbClr val="F8FBFF"/>
                </a:solidFill>
                <a:latin typeface="Malgun Gothic"/>
              </a:defRPr>
            </a:pPr>
            <a:r>
              <a:t>핵심 기능은 구현되었습니다.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7863840" cy="822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2200" b="0">
                <a:solidFill>
                  <a:srgbClr val="E0EFFF"/>
                </a:solidFill>
                <a:latin typeface="Malgun Gothic"/>
              </a:defRPr>
            </a:pPr>
            <a:r>
              <a:t>다음 단계는 운영 안정성·보안·콘텐츠 품질을 높여</a:t>
            </a:r>
            <a:br/>
            <a:r>
              <a:t>실제 사용 가능한 MVP로 완성하는 것입니다.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057400"/>
            <a:ext cx="2240280" cy="2240280"/>
          </a:xfrm>
          <a:prstGeom prst="roundRect">
            <a:avLst/>
          </a:prstGeom>
          <a:solidFill>
            <a:srgbClr val="101B2D"/>
          </a:solidFill>
          <a:ln w="12700">
            <a:solidFill>
              <a:srgbClr val="63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2578608"/>
            <a:ext cx="1691640" cy="9144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 algn="ctr">
              <a:defRPr sz="2800" b="1">
                <a:solidFill>
                  <a:srgbClr val="63A9FF"/>
                </a:solidFill>
                <a:latin typeface="Malgun Gothic"/>
              </a:defRPr>
            </a:pPr>
            <a:r>
              <a:t>MINI</a:t>
            </a:r>
            <a:br/>
            <a:r>
              <a:t>/ CTF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42432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sz="1200" b="0">
                <a:solidFill>
                  <a:srgbClr val="A8BCD3"/>
                </a:solidFill>
                <a:latin typeface="Malgun Gothic"/>
              </a:defRPr>
            </a:pPr>
            <a:r>
              <a:t>learn by breaking things safely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